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Ventas MXN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972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85A3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Álbumes y carpetas</c:v>
                  </c:pt>
                  <c:pt idx="1">
                    <c:v>Insumos y protección</c:v>
                  </c:pt>
                  <c:pt idx="2">
                    <c:v>Piezas de colección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83650</c:v>
                </c:pt>
                <c:pt idx="1">
                  <c:v>16665</c:v>
                </c:pt>
                <c:pt idx="2">
                  <c:v>5966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3D1C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4E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Canal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9E75"/>
              </a:solidFill>
              <a:effectLst/>
            </c:spPr>
          </c:dPt>
          <c:dPt>
            <c:idx val="1"/>
            <c:bubble3D val="0"/>
            <c:spPr>
              <a:solidFill>
                <a:srgbClr val="D3D1C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Mercado Libre</c:v>
                </c:pt>
                <c:pt idx="1">
                  <c:v>Mercado Shops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105339</c:v>
                </c:pt>
                <c:pt idx="1">
                  <c:v>942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1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5F4E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Margen disponible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Ticket promedio ($129)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85.34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Costo de envío</c:v>
                </c:pt>
              </c:strCache>
            </c:strRef>
          </c:tx>
          <c:spPr>
            <a:solidFill>
              <a:srgbClr val="D85A3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Ticket promedio ($129)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43.66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3D1C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1A1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5F4E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Storytelling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21945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A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Numismática · Nov–Dic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2743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ventas en Mercado Libre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0" y="1188720"/>
            <a:ext cx="2194560" cy="1005840"/>
          </a:xfrm>
          <a:prstGeom prst="rect">
            <a:avLst/>
          </a:prstGeom>
          <a:solidFill>
            <a:srgbClr val="1B2E52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280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$106,281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0" y="1755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 en ventas totales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0" y="2423160"/>
            <a:ext cx="2194560" cy="1005840"/>
          </a:xfrm>
          <a:prstGeom prst="rect">
            <a:avLst/>
          </a:prstGeom>
          <a:solidFill>
            <a:srgbClr val="1B2E52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BE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822 uds.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583680" y="2990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artículos vendidos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capítulos · Producto · Canal · Costos · Oportunidades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Resumen ejecutivo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920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1920240" cy="9144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71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$106,281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9933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totales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1920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005840"/>
            <a:ext cx="1920240" cy="914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371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68880" y="19933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artículos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vendidas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1005840"/>
            <a:ext cx="1920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005840"/>
            <a:ext cx="1920240" cy="9144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371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$129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17720" y="19933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 / ud.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promedio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1005840"/>
            <a:ext cx="1920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1005840"/>
            <a:ext cx="1920240" cy="9144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371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$43.66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766560" y="19933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 prom.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envío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108960"/>
            <a:ext cx="8503920" cy="1463040"/>
          </a:xfrm>
          <a:prstGeom prst="rect">
            <a:avLst/>
          </a:prstGeom>
          <a:solidFill>
            <a:srgbClr val="EBF8F2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108960"/>
            <a:ext cx="73152" cy="14630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200400"/>
            <a:ext cx="8138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negocio genera más de $106K MXN en dos meses </a:t>
            </a:r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invertir un solo peso en publicidad, </a:t>
            </a:r>
            <a:pPr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822 unidades vendidas casi en su totalidad a través de un solo canal: Mercado Libre.
</a:t>
            </a:r>
            <a:pPr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ticket promedio de $129 MXN frente a un costo de envío de $43.66 MXN revela un reto de margen urgente a resolver.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Capítulo 1 — ¿Qué se vendió?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2296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960120"/>
            <a:ext cx="28346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0" y="960120"/>
            <a:ext cx="64008" cy="8229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80760" y="10058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78.7%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080760" y="13807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Álbumes y carpetas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80760" y="158191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$83,650 MXN · categoría dominante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43600" y="1965960"/>
            <a:ext cx="28346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0" y="1965960"/>
            <a:ext cx="64008" cy="82296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20116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080760" y="238658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 y protección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80760" y="25877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$16,665 MXN · accesorios funcionales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943600" y="2971800"/>
            <a:ext cx="28346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0" y="2971800"/>
            <a:ext cx="64008" cy="82296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80760" y="30175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080760" y="33924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Piezas de colección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080760" y="35935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$5,966 MXN · corazón del negocio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solidFill>
            <a:srgbClr val="FFF3CD"/>
          </a:solidFill>
          <a:ln w="9525">
            <a:solidFill>
              <a:srgbClr val="C8972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5760" y="4297680"/>
            <a:ext cx="64008" cy="59436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435254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Paradoja clave: el negocio se llama numismático pero vive de los accesorios. Las piezas de colección tienen mayor margen y diferenciación — solo falta activarlas.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E52"/>
          </a:solidFill>
          <a:ln w="12700">
            <a:solidFill>
              <a:srgbClr val="1B2E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productos por ingreso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457200" cy="658368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332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960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Billetes y Monedas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252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 uds.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0" y="9784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$34,670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32320" y="13075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645920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45920"/>
            <a:ext cx="457200" cy="6583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8105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1737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Álbum 200 tarjetas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 uds.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0" y="17556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$23,940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32320" y="20848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423160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423160"/>
            <a:ext cx="457200" cy="658368"/>
          </a:xfrm>
          <a:prstGeom prst="rect">
            <a:avLst/>
          </a:prstGeom>
          <a:solidFill>
            <a:srgbClr val="1B2E52"/>
          </a:solidFill>
          <a:ln w="12700">
            <a:solidFill>
              <a:srgbClr val="1B2E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5877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2514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 protectora x100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28072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321 uds.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0" y="25328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$16,665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32320" y="286207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200400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200400"/>
            <a:ext cx="457200" cy="658368"/>
          </a:xfrm>
          <a:prstGeom prst="rect">
            <a:avLst/>
          </a:prstGeom>
          <a:solidFill>
            <a:srgbClr val="1B2E52"/>
          </a:solidFill>
          <a:ln w="12700">
            <a:solidFill>
              <a:srgbClr val="1B2E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3649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0120" y="3291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Álbum monedas 100 espacios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3584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uds.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0" y="33101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$14,560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132320" y="36393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3977640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3977640"/>
            <a:ext cx="457200" cy="65836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1422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60120" y="4069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Piezas colección (total)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60120" y="43616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uds.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32320" y="40873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$5,966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132320" y="44165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Capítulo 2 — Canal de ventas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22960"/>
          <a:ext cx="38404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0" y="91440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0" y="914400"/>
            <a:ext cx="64008" cy="128016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09160" y="9875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de riesgo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09160" y="130759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99.1% de los ingresos depende de un solo canal. Cualquier cambio en las políticas o comisiones de Mercado Libre impacta directamente el negocio.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0" y="242316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2423160"/>
            <a:ext cx="64008" cy="12801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09160" y="24963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publicidad pagada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709160" y="281635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100% de los ingresos es orgánico. Esto confirma demanda real existente, pero revela un techo de crecimiento — sin pauta, el alcance está limitado al posicionamiento natural.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EBF8F2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4251960"/>
            <a:ext cx="64008" cy="5943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43159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Shops es el segundo canal disponible pero generó solo $942 MXN en 2 unidades. Sin activación, no existe.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Capítulo 3 — El costo oculto: el envío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22960"/>
          <a:ext cx="53035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868680"/>
            <a:ext cx="2834640" cy="137160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0" y="10058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33.8%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5943600" y="16642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ticket promedio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va en envío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0" y="2423160"/>
            <a:ext cx="28346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24871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$43.66 MXN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943600" y="28346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envío promedio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3063240"/>
            <a:ext cx="8412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312724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bajo ($50–$80 MXN):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envío supera el valor del producto — pérdida garantizada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33832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medio ($100–$150 MXN):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de 25–35% antes de comisiones de plataforma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36393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alto (+$300 MXN):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envío es absorbido — rentabilidad real comienza aquí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solidFill>
            <a:srgbClr val="FFF3CD"/>
          </a:solidFill>
          <a:ln w="9525">
            <a:solidFill>
              <a:srgbClr val="C8972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" y="4160520"/>
            <a:ext cx="64008" cy="68580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42245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Palanca inmediata: promover bundles (2–3 productos) para subir el ticket sin incrementar el costo de envío. Una sola orden de $260 MXN tiene casi el mismo margen que dos de $130.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E52"/>
          </a:solidFill>
          <a:ln w="12700">
            <a:solidFill>
              <a:srgbClr val="1B2E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Capítulo 4 — Las 3 oportunidades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51760" cy="3931920"/>
          </a:xfrm>
          <a:prstGeom prst="rect">
            <a:avLst/>
          </a:prstGeom>
          <a:solidFill>
            <a:srgbClr val="122040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2651760" cy="73152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9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piezas de colección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67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5.6% a 15%+ del ingreso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542032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margen unitario. Mayor diferenciación frente a competidores de accesorios genéricos. El catálogo numismático es la razón de ser del negocio — posicionarlo como premium.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651760" cy="3931920"/>
          </a:xfrm>
          <a:prstGeom prst="rect">
            <a:avLst/>
          </a:prstGeom>
          <a:solidFill>
            <a:srgbClr val="122040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822960"/>
            <a:ext cx="265176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9601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3756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inversión en publicidad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2167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Pauta desde $500 MXN para medir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542032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0% actual en publicidad es una ventana sin explotar. Con demanda orgánica comprobada, cualquier inversión en Mercado Libre Ads genera datos de conversión valiosos.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822960"/>
            <a:ext cx="2651760" cy="3931920"/>
          </a:xfrm>
          <a:prstGeom prst="rect">
            <a:avLst/>
          </a:prstGeom>
          <a:solidFill>
            <a:srgbClr val="12204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822960"/>
            <a:ext cx="2651760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9601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21792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bundles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2167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ticket sin subir envío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2542032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carpeta + fundas + pieza de colección en un solo paquete. Ticket objetivo: $250–$350 MXN. El envío se diluye y el margen real se multiplica.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historia en una línea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" y="1463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3D1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negocio vende accesorios </a:t>
            </a:r>
            <a:pPr indent="0" marL="0">
              <a:buNone/>
            </a:pPr>
            <a:r>
              <a:rPr lang="en-US" sz="3000" b="1" dirty="0">
                <a:solidFill>
                  <a:srgbClr val="EAB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pero su alma es numismática.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2377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demanda orgánica comprobada, ticket optimizable y tres palancas sin activar 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publicidad, colección y bundles — el potencial de crecimiento es 3× en los próximos 6 meses.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3520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40965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de crecimiento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46120" y="3520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MXN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46120" y="40965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invertido en publicidad hoy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80760" y="3520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080760" y="40965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ingreso en piezas numismáticas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809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Datos: Mercado Libre · Noviembre–Diciembre · Elaborado con Claude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Numismática — Data Storytelling</dc:title>
  <dc:subject>PptxGenJS Presentation</dc:subject>
  <dc:creator>Diri Telecomunicaciones</dc:creator>
  <cp:lastModifiedBy>Diri Telecomunicaciones</cp:lastModifiedBy>
  <cp:revision>1</cp:revision>
  <dcterms:created xsi:type="dcterms:W3CDTF">2026-03-20T00:23:39Z</dcterms:created>
  <dcterms:modified xsi:type="dcterms:W3CDTF">2026-03-20T00:23:39Z</dcterms:modified>
</cp:coreProperties>
</file>